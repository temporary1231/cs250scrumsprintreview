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Maven Pro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avenPro-bold.fntdata"/><Relationship Id="rId6" Type="http://schemas.openxmlformats.org/officeDocument/2006/relationships/slide" Target="slides/slide1.xml"/><Relationship Id="rId18" Type="http://schemas.openxmlformats.org/officeDocument/2006/relationships/font" Target="fonts/Maven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0620e571c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0620e571c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0620e571c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c0620e571c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c0620e571c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c0620e571c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c0620e571c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c0620e571c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0620e571c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c0620e571c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c0620e571c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c0620e571c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c0620e571c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c0620e571c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stock.adobe.com/search?filters%5Bcontent_type%3Aphoto%5D=1&amp;filters%5Bcontent_type%3Aillustration%5D=1&amp;filters%5Bcontent_type%3Azip_vector%5D=1&amp;filters%5Bcontent_type%3Avideo%5D=1&amp;filters%5Bcontent_type%3Atemplate%5D=1&amp;filters%5Bcontent_type%3A3d%5D=1&amp;filters%5Bcontent_type%3Aimage%5D=1&amp;k=team&amp;order=relevance&amp;search_page=1&amp;search_type=usertyped&amp;acp=&amp;aco=team&amp;get_facets=0" TargetMode="External"/><Relationship Id="rId4" Type="http://schemas.openxmlformats.org/officeDocument/2006/relationships/hyperlink" Target="https://fity.club/lists/suggestions/waterfall-model/" TargetMode="External"/><Relationship Id="rId5" Type="http://schemas.openxmlformats.org/officeDocument/2006/relationships/hyperlink" Target="https://lucid.co/lucidspark/landing/agile-planning-software?utm_source=bing&amp;utm_medium=cpc&amp;utm_campaign=_spark_en_us_desktop_search_agile_exactphrase_&amp;km_CPC_CampaignId=688272062&amp;km_CPC_AdGroupID=1224857021393472&amp;km_CPC_Keyword=agile%20methodology&amp;km_CPC_MatchType=e&amp;km_CPC_ExtensionID=%7Bextensionid%7D&amp;km_CPC_Network=o&amp;km_CPC_AdPosition=&amp;km_CPC_Creative=&amp;km_CPC_TargetID=kwd-76553897913220:loc-190&amp;km_CPC_Country=93546&amp;km_CPC_Device=c&amp;km_CPC_placement=&amp;km_CPC_target=&amp;mkt_query=what%20are%20agile&amp;msclkid=069e1004481112d2b1dc799f97b1992e" TargetMode="External"/><Relationship Id="rId6" Type="http://schemas.openxmlformats.org/officeDocument/2006/relationships/hyperlink" Target="https://pngtree.com/so/confused-po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Scrum-Agile: An Overview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</a:t>
            </a:r>
            <a:r>
              <a:rPr lang="en"/>
              <a:t>Lincon Woodruff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Scrum-Agile: Team Roles</a:t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469950" y="1464175"/>
            <a:ext cx="42225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Product Owner</a:t>
            </a:r>
            <a:endParaRPr sz="48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Prioritizes the product backlog</a:t>
            </a:r>
            <a:br>
              <a:rPr lang="en" sz="4800"/>
            </a:br>
            <a:endParaRPr sz="48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Represents customer and business needs</a:t>
            </a:r>
            <a:br>
              <a:rPr lang="en" sz="4800"/>
            </a:br>
            <a:endParaRPr sz="48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Ensures development focuses on high-value features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/>
              <a:t>Scrum Master</a:t>
            </a:r>
            <a:endParaRPr sz="48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Removes development obstacles</a:t>
            </a:r>
            <a:br>
              <a:rPr lang="en" sz="4800"/>
            </a:br>
            <a:endParaRPr sz="48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Supports team communication</a:t>
            </a:r>
            <a:br>
              <a:rPr lang="en" sz="4800"/>
            </a:br>
            <a:endParaRPr sz="48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800"/>
              <a:t>Helps maintain Scrum process workflow</a:t>
            </a:r>
            <a:endParaRPr sz="48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t/>
            </a:r>
            <a:endParaRPr sz="4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"/>
          <p:cNvSpPr txBox="1"/>
          <p:nvPr/>
        </p:nvSpPr>
        <p:spPr>
          <a:xfrm>
            <a:off x="4430300" y="1597875"/>
            <a:ext cx="4024200" cy="14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Development Team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Designs, codes, and tests software</a:t>
            </a:r>
            <a:b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</a:b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●"/>
            </a:pPr>
            <a:r>
              <a:rPr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Works collaboratively to complete sprint goals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86" name="Google Shape;286;p14" title="232-2327321_team-transparent-group-work-team-succes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650" y="2890875"/>
            <a:ext cx="3659176" cy="221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Agile Roles</a:t>
            </a:r>
            <a:endParaRPr/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503225" y="14799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Scrum roles help organize development responsibilities</a:t>
            </a:r>
            <a:br>
              <a:rPr lang="en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Encourages collaboration instead of hierarchy</a:t>
            </a:r>
            <a:br>
              <a:rPr lang="en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Supports faster problem solving</a:t>
            </a:r>
            <a:br>
              <a:rPr lang="en" sz="2200"/>
            </a:b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 sz="2200"/>
              <a:t>Improves project productivity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15" title="240_F_301970826_EcHGCX5oo9LlAdKmoVntrOIqvs9TGCXL.jpg"/>
          <p:cNvPicPr preferRelativeResize="0"/>
          <p:nvPr/>
        </p:nvPicPr>
        <p:blipFill rotWithShape="1">
          <a:blip r:embed="rId3">
            <a:alphaModFix amt="21000"/>
          </a:blip>
          <a:srcRect b="2359" l="0" r="0" t="-2360"/>
          <a:stretch/>
        </p:blipFill>
        <p:spPr>
          <a:xfrm flipH="1">
            <a:off x="-268849" y="1531575"/>
            <a:ext cx="9681600" cy="3333000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"/>
          <p:cNvSpPr txBox="1"/>
          <p:nvPr>
            <p:ph type="title"/>
          </p:nvPr>
        </p:nvSpPr>
        <p:spPr>
          <a:xfrm>
            <a:off x="1303800" y="5489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/>
              <a:t>Agile SDLC Phases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 txBox="1"/>
          <p:nvPr>
            <p:ph idx="1" type="body"/>
          </p:nvPr>
        </p:nvSpPr>
        <p:spPr>
          <a:xfrm>
            <a:off x="1126700" y="1416200"/>
            <a:ext cx="7030500" cy="34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/>
              <a:t>Requirements → User Stories</a:t>
            </a:r>
            <a:endParaRPr b="1" sz="52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200"/>
              <a:t>Requirements are collected continuously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/>
              <a:t>Planning → Sprint Planning</a:t>
            </a:r>
            <a:endParaRPr b="1" sz="52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200"/>
              <a:t>Tasks are selected from product backlog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/>
              <a:t>Development and Testing</a:t>
            </a:r>
            <a:endParaRPr b="1" sz="52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200"/>
              <a:t>Coding and testing occur during each sprint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/>
              <a:t>Review and Feedback</a:t>
            </a:r>
            <a:endParaRPr b="1" sz="52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200"/>
              <a:t>Stakeholders evaluate working software</a:t>
            </a:r>
            <a:endParaRPr sz="5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5200"/>
              <a:t>Retrospective</a:t>
            </a:r>
            <a:endParaRPr b="1" sz="5200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5200"/>
              <a:t>Team improves development process</a:t>
            </a:r>
            <a:endParaRPr sz="5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16" title="agile-lifecycle-methodology-infographic-is-a-processes-to-create-and-respond-to-change-life-cycle-of-product-development-and-agile-methodology-process-diagram-template-workflow-illustration-vect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7375" y="1076876"/>
            <a:ext cx="4066627" cy="4066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Agile Phases</a:t>
            </a:r>
            <a:endParaRPr/>
          </a:p>
        </p:txBody>
      </p:sp>
      <p:sp>
        <p:nvSpPr>
          <p:cNvPr id="306" name="Google Shape;306;p17"/>
          <p:cNvSpPr txBox="1"/>
          <p:nvPr>
            <p:ph idx="1" type="body"/>
          </p:nvPr>
        </p:nvSpPr>
        <p:spPr>
          <a:xfrm>
            <a:off x="1169200" y="1345350"/>
            <a:ext cx="4104300" cy="29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Allows continuous improvement of software</a:t>
            </a:r>
            <a:br>
              <a:rPr lang="en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Reduces risk by identifying errors early</a:t>
            </a:r>
            <a:br>
              <a:rPr lang="en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Supports changing customer requirements</a:t>
            </a:r>
            <a:br>
              <a:rPr lang="en" sz="1500"/>
            </a:b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Produces working software quickly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17" title="pexels-kampus-88158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3250" y="1638838"/>
            <a:ext cx="3565701" cy="2380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vs Agile Development</a:t>
            </a:r>
            <a:endParaRPr/>
          </a:p>
        </p:txBody>
      </p:sp>
      <p:sp>
        <p:nvSpPr>
          <p:cNvPr id="313" name="Google Shape;313;p18"/>
          <p:cNvSpPr txBox="1"/>
          <p:nvPr>
            <p:ph idx="1" type="body"/>
          </p:nvPr>
        </p:nvSpPr>
        <p:spPr>
          <a:xfrm>
            <a:off x="6520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Development follows sequential phases</a:t>
            </a:r>
            <a:br>
              <a:rPr lang="en"/>
            </a:b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Requirements are defined early</a:t>
            </a:r>
            <a:br>
              <a:rPr lang="en"/>
            </a:b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Design → Implementation → Testing → Deployment occurs step-by-step</a:t>
            </a:r>
            <a:br>
              <a:rPr lang="en"/>
            </a:br>
            <a:endParaRPr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Changes are difficult after development begins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8"/>
          <p:cNvSpPr txBox="1"/>
          <p:nvPr>
            <p:ph idx="2" type="body"/>
          </p:nvPr>
        </p:nvSpPr>
        <p:spPr>
          <a:xfrm>
            <a:off x="4244775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Development is iterative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Feedback is continuous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Requirements can change during project</a:t>
            </a:r>
            <a:br>
              <a:rPr lang="en"/>
            </a:b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Testing happens throughout development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8"/>
          <p:cNvSpPr txBox="1"/>
          <p:nvPr/>
        </p:nvSpPr>
        <p:spPr>
          <a:xfrm>
            <a:off x="1814650" y="1697075"/>
            <a:ext cx="11052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Waterfall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16" name="Google Shape;316;p18"/>
          <p:cNvSpPr txBox="1"/>
          <p:nvPr/>
        </p:nvSpPr>
        <p:spPr>
          <a:xfrm>
            <a:off x="5650125" y="1697075"/>
            <a:ext cx="6198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Agile</a:t>
            </a:r>
            <a:endParaRPr b="1"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17" name="Google Shape;317;p18" title="waterfall-model.png"/>
          <p:cNvPicPr preferRelativeResize="0"/>
          <p:nvPr/>
        </p:nvPicPr>
        <p:blipFill>
          <a:blip r:embed="rId3">
            <a:alphaModFix amt="34000"/>
          </a:blip>
          <a:stretch>
            <a:fillRect/>
          </a:stretch>
        </p:blipFill>
        <p:spPr>
          <a:xfrm>
            <a:off x="104600" y="1418125"/>
            <a:ext cx="4601700" cy="345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18" title="agile.png"/>
          <p:cNvPicPr preferRelativeResize="0"/>
          <p:nvPr/>
        </p:nvPicPr>
        <p:blipFill>
          <a:blip r:embed="rId4">
            <a:alphaModFix amt="44000"/>
          </a:blip>
          <a:stretch>
            <a:fillRect/>
          </a:stretch>
        </p:blipFill>
        <p:spPr>
          <a:xfrm>
            <a:off x="4344475" y="1376863"/>
            <a:ext cx="3448050" cy="353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Choosing Between Waterfall and Agile</a:t>
            </a:r>
            <a:endParaRPr/>
          </a:p>
        </p:txBody>
      </p:sp>
      <p:sp>
        <p:nvSpPr>
          <p:cNvPr id="324" name="Google Shape;324;p19"/>
          <p:cNvSpPr txBox="1"/>
          <p:nvPr>
            <p:ph idx="1" type="body"/>
          </p:nvPr>
        </p:nvSpPr>
        <p:spPr>
          <a:xfrm>
            <a:off x="1099250" y="13009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7350"/>
              <a:t>Factors to consider when selecting methodology:</a:t>
            </a:r>
            <a:endParaRPr sz="7350"/>
          </a:p>
          <a:p>
            <a:pPr indent="-345281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7350"/>
              <a:t>Project requirement clarity</a:t>
            </a:r>
            <a:br>
              <a:rPr lang="en" sz="7350"/>
            </a:br>
            <a:endParaRPr sz="7350"/>
          </a:p>
          <a:p>
            <a:pPr indent="-34528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7350"/>
              <a:t>Expected frequency of changes</a:t>
            </a:r>
            <a:br>
              <a:rPr lang="en" sz="7350"/>
            </a:br>
            <a:endParaRPr sz="7350"/>
          </a:p>
          <a:p>
            <a:pPr indent="-34528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7350"/>
              <a:t>Stakeholder feedback needs</a:t>
            </a:r>
            <a:br>
              <a:rPr lang="en" sz="7350"/>
            </a:br>
            <a:endParaRPr sz="7350"/>
          </a:p>
          <a:p>
            <a:pPr indent="-34528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7350"/>
              <a:t>Team communication ability</a:t>
            </a:r>
            <a:br>
              <a:rPr lang="en" sz="7350"/>
            </a:br>
            <a:endParaRPr sz="7350"/>
          </a:p>
          <a:p>
            <a:pPr indent="-345281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n" sz="7350"/>
              <a:t>Development timeline</a:t>
            </a:r>
            <a:endParaRPr sz="73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19" title="pngtree-handsome-young-man-looking-confused-white-background-young-png-image_1118676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4850" y="1860925"/>
            <a:ext cx="51435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331" name="Google Shape;331;p20"/>
          <p:cNvSpPr txBox="1"/>
          <p:nvPr>
            <p:ph idx="1" type="body"/>
          </p:nvPr>
        </p:nvSpPr>
        <p:spPr>
          <a:xfrm>
            <a:off x="1303800" y="1267400"/>
            <a:ext cx="7030500" cy="37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Image Sources: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Team stock photos, royalty-free images, vectors, video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Waterfall Model What Is Waterfall Methodology: Everything You Need To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Agile planning software | Lucidspark</a:t>
            </a:r>
            <a:endParaRPr b="1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Confused Pose PNG Transparent Images Free Download | Vector Files | Pngtree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Resources: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	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Schwaber, K., &amp; Sutherland, J. (2020). </a:t>
            </a:r>
            <a:r>
              <a:rPr i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Scrum Guide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Agile Alliance. (2020). Agile methodology overview.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VersionOne. (2020). State of Agile report.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IEEE Xplore Digital Library articles on Agile software development.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